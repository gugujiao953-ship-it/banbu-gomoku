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28a0773b3b4796" /><Relationship Type="http://schemas.openxmlformats.org/officeDocument/2006/relationships/extended-properties" Target="/docProps/app.xml" Id="R36c66c27a00a4115" /><Relationship Type="http://schemas.openxmlformats.org/officeDocument/2006/relationships/officeDocument" Target="/ppt/presentation.xml" Id="R3a037ecbe951488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6a6b5064a54517"/>
  </p:sldMasterIdLst>
  <p:notesMasterIdLst>
    <p:notesMasterId xmlns:r="http://schemas.openxmlformats.org/officeDocument/2006/relationships" r:id="R38613ba21117410e"/>
  </p:notesMasterIdLst>
  <p:sldIdLst>
    <p:sldId xmlns:r="http://schemas.openxmlformats.org/officeDocument/2006/relationships" id="256" r:id="R53e6d5d6cdcd4907"/>
    <p:sldId xmlns:r="http://schemas.openxmlformats.org/officeDocument/2006/relationships" id="257" r:id="R1a52a7c72afe41f2"/>
    <p:sldId xmlns:r="http://schemas.openxmlformats.org/officeDocument/2006/relationships" id="258" r:id="Refa03c36f298408c"/>
    <p:sldId xmlns:r="http://schemas.openxmlformats.org/officeDocument/2006/relationships" id="259" r:id="R2ca80edcdc92428d"/>
    <p:sldId xmlns:r="http://schemas.openxmlformats.org/officeDocument/2006/relationships" id="260" r:id="R718d3f0ed3204564"/>
    <p:sldId xmlns:r="http://schemas.openxmlformats.org/officeDocument/2006/relationships" id="261" r:id="Rfea2c2b5139b4603"/>
    <p:sldId xmlns:r="http://schemas.openxmlformats.org/officeDocument/2006/relationships" id="262" r:id="R33cb54fa0316427e"/>
    <p:sldId xmlns:r="http://schemas.openxmlformats.org/officeDocument/2006/relationships" id="263" r:id="R59bdbac832ff4402"/>
    <p:sldId xmlns:r="http://schemas.openxmlformats.org/officeDocument/2006/relationships" id="264" r:id="R3c36cf09140341dc"/>
    <p:sldId xmlns:r="http://schemas.openxmlformats.org/officeDocument/2006/relationships" id="265" r:id="R4aa0693729274d1b"/>
    <p:sldId xmlns:r="http://schemas.openxmlformats.org/officeDocument/2006/relationships" id="266" r:id="R01bc4e2caebe4a02"/>
    <p:sldId xmlns:r="http://schemas.openxmlformats.org/officeDocument/2006/relationships" id="267" r:id="Rfa142f8fbfcd4188"/>
    <p:sldId xmlns:r="http://schemas.openxmlformats.org/officeDocument/2006/relationships" id="268" r:id="R240c4e2a51404989"/>
    <p:sldId xmlns:r="http://schemas.openxmlformats.org/officeDocument/2006/relationships" id="269" r:id="Re0df02a962954726"/>
    <p:sldId xmlns:r="http://schemas.openxmlformats.org/officeDocument/2006/relationships" id="270" r:id="R9895e22ba6ee412d"/>
    <p:sldId xmlns:r="http://schemas.openxmlformats.org/officeDocument/2006/relationships" id="271" r:id="R1a18e6e3b5744c7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574bf1f5394e18" /><Relationship Type="http://schemas.openxmlformats.org/officeDocument/2006/relationships/slideMaster" Target="/ppt/slideMasters/slideMaster1.xml" Id="R716a6b5064a54517" /><Relationship Type="http://schemas.openxmlformats.org/officeDocument/2006/relationships/notesMaster" Target="/ppt/notesMasters/notesMaster1.xml" Id="R38613ba21117410e" /><Relationship Type="http://schemas.openxmlformats.org/officeDocument/2006/relationships/presProps" Target="/ppt/presProps.xml" Id="Rdf13ed226e5f4aed" /><Relationship Type="http://schemas.openxmlformats.org/officeDocument/2006/relationships/tableStyles" Target="/ppt/tableStyles.xml" Id="R7a49fcfcb9ae4b68" /><Relationship Type="http://schemas.openxmlformats.org/officeDocument/2006/relationships/slide" Target="/ppt/slides/slide1.xml" Id="R53e6d5d6cdcd4907" /><Relationship Type="http://schemas.openxmlformats.org/officeDocument/2006/relationships/slide" Target="/ppt/slides/slide2.xml" Id="R1a52a7c72afe41f2" /><Relationship Type="http://schemas.openxmlformats.org/officeDocument/2006/relationships/slide" Target="/ppt/slides/slide3.xml" Id="Refa03c36f298408c" /><Relationship Type="http://schemas.openxmlformats.org/officeDocument/2006/relationships/slide" Target="/ppt/slides/slide4.xml" Id="R2ca80edcdc92428d" /><Relationship Type="http://schemas.openxmlformats.org/officeDocument/2006/relationships/slide" Target="/ppt/slides/slide5.xml" Id="R718d3f0ed3204564" /><Relationship Type="http://schemas.openxmlformats.org/officeDocument/2006/relationships/slide" Target="/ppt/slides/slide6.xml" Id="Rfea2c2b5139b4603" /><Relationship Type="http://schemas.openxmlformats.org/officeDocument/2006/relationships/slide" Target="/ppt/slides/slide7.xml" Id="R33cb54fa0316427e" /><Relationship Type="http://schemas.openxmlformats.org/officeDocument/2006/relationships/slide" Target="/ppt/slides/slide8.xml" Id="R59bdbac832ff4402" /><Relationship Type="http://schemas.openxmlformats.org/officeDocument/2006/relationships/slide" Target="/ppt/slides/slide9.xml" Id="R3c36cf09140341dc" /><Relationship Type="http://schemas.openxmlformats.org/officeDocument/2006/relationships/slide" Target="/ppt/slides/slide10.xml" Id="R4aa0693729274d1b" /><Relationship Type="http://schemas.openxmlformats.org/officeDocument/2006/relationships/slide" Target="/ppt/slides/slide11.xml" Id="R01bc4e2caebe4a02" /><Relationship Type="http://schemas.openxmlformats.org/officeDocument/2006/relationships/slide" Target="/ppt/slides/slide12.xml" Id="Rfa142f8fbfcd4188" /><Relationship Type="http://schemas.openxmlformats.org/officeDocument/2006/relationships/slide" Target="/ppt/slides/slide13.xml" Id="R240c4e2a51404989" /><Relationship Type="http://schemas.openxmlformats.org/officeDocument/2006/relationships/slide" Target="/ppt/slides/slide14.xml" Id="Re0df02a962954726" /><Relationship Type="http://schemas.openxmlformats.org/officeDocument/2006/relationships/slide" Target="/ppt/slides/slide15.xml" Id="R9895e22ba6ee412d" /><Relationship Type="http://schemas.openxmlformats.org/officeDocument/2006/relationships/slide" Target="/ppt/slides/slide16.xml" Id="R1a18e6e3b5744c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de6924810734c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28c7e6dac9641f2" /><Relationship Type="http://schemas.openxmlformats.org/officeDocument/2006/relationships/notesMaster" Target="/ppt/notesMasters/notesMaster1.xml" Id="Rd5d02de1cac7451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0bbd4ea54314b83" /><Relationship Type="http://schemas.openxmlformats.org/officeDocument/2006/relationships/notesMaster" Target="/ppt/notesMasters/notesMaster1.xml" Id="R6832099640124ae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3ee25c3c5314c5a" /><Relationship Type="http://schemas.openxmlformats.org/officeDocument/2006/relationships/notesMaster" Target="/ppt/notesMasters/notesMaster1.xml" Id="Rc1433e5292824d7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4a5ee94a38f4444" /><Relationship Type="http://schemas.openxmlformats.org/officeDocument/2006/relationships/notesMaster" Target="/ppt/notesMasters/notesMaster1.xml" Id="R3560417ebc0d4ec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cbb84dcd8d846d5" /><Relationship Type="http://schemas.openxmlformats.org/officeDocument/2006/relationships/notesMaster" Target="/ppt/notesMasters/notesMaster1.xml" Id="R153340a3e0864f7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ece307304864dd8" /><Relationship Type="http://schemas.openxmlformats.org/officeDocument/2006/relationships/notesMaster" Target="/ppt/notesMasters/notesMaster1.xml" Id="R795d927520a3449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b96cf32c93f4234" /><Relationship Type="http://schemas.openxmlformats.org/officeDocument/2006/relationships/notesMaster" Target="/ppt/notesMasters/notesMaster1.xml" Id="R9f2cef9b69a64a9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e4891ab80594297" /><Relationship Type="http://schemas.openxmlformats.org/officeDocument/2006/relationships/notesMaster" Target="/ppt/notesMasters/notesMaster1.xml" Id="Rd4debcc3b543470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4054592168c4d28" /><Relationship Type="http://schemas.openxmlformats.org/officeDocument/2006/relationships/notesMaster" Target="/ppt/notesMasters/notesMaster1.xml" Id="R7c4ac33baf2b469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408397e7851427a" /><Relationship Type="http://schemas.openxmlformats.org/officeDocument/2006/relationships/notesMaster" Target="/ppt/notesMasters/notesMaster1.xml" Id="Rd2c75c6cbd3b4e3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0d9fe631b0c4c76" /><Relationship Type="http://schemas.openxmlformats.org/officeDocument/2006/relationships/notesMaster" Target="/ppt/notesMasters/notesMaster1.xml" Id="Re8f6c92ea2b3480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a626dfdb3b4494e" /><Relationship Type="http://schemas.openxmlformats.org/officeDocument/2006/relationships/notesMaster" Target="/ppt/notesMasters/notesMaster1.xml" Id="R53e532577c35423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324f397a6ac4325" /><Relationship Type="http://schemas.openxmlformats.org/officeDocument/2006/relationships/notesMaster" Target="/ppt/notesMasters/notesMaster1.xml" Id="Rb93094cb3e6e4c6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e05bac4f1a4438e" /><Relationship Type="http://schemas.openxmlformats.org/officeDocument/2006/relationships/notesMaster" Target="/ppt/notesMasters/notesMaster1.xml" Id="R7e022a43913c4e1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e483d45cdc34928" /><Relationship Type="http://schemas.openxmlformats.org/officeDocument/2006/relationships/notesMaster" Target="/ppt/notesMasters/notesMaster1.xml" Id="R6406b8006e67425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f4e1e64d32e44fc" /><Relationship Type="http://schemas.openxmlformats.org/officeDocument/2006/relationships/notesMaster" Target="/ppt/notesMasters/notesMaster1.xml" Id="Rff73a68f5cd741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真实界面截图：01-workspace-empty.png</a:t>
            </a:r>
          </a:p>
          <a:p xmlns:a="http://schemas.openxmlformats.org/drawingml/2006/main">
            <a:r>
              <a:t>- 半步五子棋项目当前实现与可见界面，2026-09-01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应用顶部工作模式与底部主导航的当前可见功能</a:t>
            </a:r>
          </a:p>
          <a:p xmlns:a="http://schemas.openxmlformats.org/drawingml/2006/main">
            <a:r>
              <a:t>- 半步五子棋项目当前实现与可见界面，2026-09-01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真实界面截图：02-recording-board.png</a:t>
            </a:r>
          </a:p>
          <a:p xmlns:a="http://schemas.openxmlformats.org/drawingml/2006/main">
            <a:r>
              <a:t>- 半步五子棋项目当前实现与可见界面，2026-09-01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真实界面截图：03-branch-tree.png</a:t>
            </a:r>
          </a:p>
          <a:p xmlns:a="http://schemas.openxmlformats.org/drawingml/2006/main">
            <a:r>
              <a:t>- 半步五子棋项目当前实现与可见界面，2026-09-01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真实界面截图：05-review-mode.png</a:t>
            </a:r>
          </a:p>
          <a:p xmlns:a="http://schemas.openxmlformats.org/drawingml/2006/main">
            <a:r>
              <a:t>- 半步五子棋项目当前实现与可见界面，2026-09-01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真实界面截图：04-library.png</a:t>
            </a:r>
          </a:p>
          <a:p xmlns:a="http://schemas.openxmlformats.org/drawingml/2006/main">
            <a:r>
              <a:t>- 半步五子棋项目当前实现与可见界面，2026-09-01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真实界面截图：06-puzzles.png</a:t>
            </a:r>
          </a:p>
          <a:p xmlns:a="http://schemas.openxmlformats.org/drawingml/2006/main">
            <a:r>
              <a:t>- 半步五子棋项目当前实现与可见界面，2026-09-01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真实界面截图：09-ai-rules.png；规则名称来自当前 AI 对战弹窗</a:t>
            </a:r>
          </a:p>
          <a:p xmlns:a="http://schemas.openxmlformats.org/drawingml/2006/main">
            <a:r>
              <a:t>- 半步五子棋项目当前实现与可见界面，2026-09-01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真实界面截图：10-five-move-rule-detail.png；规则流程来自当前五手多打说明</a:t>
            </a:r>
          </a:p>
          <a:p xmlns:a="http://schemas.openxmlformats.org/drawingml/2006/main">
            <a:r>
              <a:t>- 半步五子棋项目当前实现与可见界面，2026-09-01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真实界面截图：11-rule-guide.png；规则说明来自应用内规则说明页</a:t>
            </a:r>
          </a:p>
          <a:p xmlns:a="http://schemas.openxmlformats.org/drawingml/2006/main">
            <a:r>
              <a:t>- 半步五子棋项目当前实现与可见界面，2026-09-01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半步五子棋当前本机标注实现与读谱模式边界</a:t>
            </a:r>
          </a:p>
          <a:p xmlns:a="http://schemas.openxmlformats.org/drawingml/2006/main">
            <a:r>
              <a:t>- 半步五子棋项目当前实现与可见界面，2026-09-01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真实界面截图：07-import-export.png</a:t>
            </a:r>
          </a:p>
          <a:p xmlns:a="http://schemas.openxmlformats.org/drawingml/2006/main">
            <a:r>
              <a:t>- 半步五子棋项目当前实现与可见界面，2026-09-01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真实界面截图：08-settings.png；主题与按钮可读性来自当前设置及样式实现</a:t>
            </a:r>
          </a:p>
          <a:p xmlns:a="http://schemas.openxmlformats.org/drawingml/2006/main">
            <a:r>
              <a:t>- 半步五子棋项目当前实现与可见界面，2026-09-01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半步五子棋本地存储架构与棋谱库中的“资料安全”提示</a:t>
            </a:r>
          </a:p>
          <a:p xmlns:a="http://schemas.openxmlformats.org/drawingml/2006/main">
            <a:r>
              <a:t>- 半步五子棋项目当前实现与可见界面，2026-09-01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半步五子棋功能组合对应的典型使用场景</a:t>
            </a:r>
          </a:p>
          <a:p xmlns:a="http://schemas.openxmlformats.org/drawingml/2006/main">
            <a:r>
              <a:t>- 半步五子棋项目当前实现与可见界面，2026-09-01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半步五子棋产品定位与本演示所展示功能的总结</a:t>
            </a:r>
          </a:p>
          <a:p xmlns:a="http://schemas.openxmlformats.org/drawingml/2006/main">
            <a:r>
              <a:t>- 半步五子棋项目当前实现与可见界面，2026-09-01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139ba823ff427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7ad8ca8e64e45ec" /><Relationship Type="http://schemas.openxmlformats.org/officeDocument/2006/relationships/slideLayout" Target="/ppt/slideLayouts/slideLayout1.xml" Id="Raaefac74664a45f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efac74664a45f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632eafc6b246b0" /><Relationship Type="http://schemas.openxmlformats.org/officeDocument/2006/relationships/image" Target="/ppt/media/image.png" Id="R3c84f022a74f4023" /><Relationship Type="http://schemas.openxmlformats.org/officeDocument/2006/relationships/notesSlide" Target="/ppt/notesSlides/notesSlide1.xml" Id="R40f2d1eca34642a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a7cdfa91a14d2b" /><Relationship Type="http://schemas.openxmlformats.org/officeDocument/2006/relationships/notesSlide" Target="/ppt/notesSlides/notesSlide2.xml" Id="R787fadcd5e6d4bb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17f4d013ef49ac" /><Relationship Type="http://schemas.openxmlformats.org/officeDocument/2006/relationships/image" Target="/ppt/media/image2.png" Id="Rddd8638557924dd7" /><Relationship Type="http://schemas.openxmlformats.org/officeDocument/2006/relationships/notesSlide" Target="/ppt/notesSlides/notesSlide3.xml" Id="R779fd0d6d8264cf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420296d27a4403" /><Relationship Type="http://schemas.openxmlformats.org/officeDocument/2006/relationships/image" Target="/ppt/media/image3.png" Id="R955c4299b28449e5" /><Relationship Type="http://schemas.openxmlformats.org/officeDocument/2006/relationships/notesSlide" Target="/ppt/notesSlides/notesSlide4.xml" Id="R3550af5a4870483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f37e5226304bb8" /><Relationship Type="http://schemas.openxmlformats.org/officeDocument/2006/relationships/image" Target="/ppt/media/image4.png" Id="R71751aa759cb4cf5" /><Relationship Type="http://schemas.openxmlformats.org/officeDocument/2006/relationships/notesSlide" Target="/ppt/notesSlides/notesSlide5.xml" Id="R7e55de840c59489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14701388b34c0d" /><Relationship Type="http://schemas.openxmlformats.org/officeDocument/2006/relationships/image" Target="/ppt/media/image5.png" Id="Rb4a2a648b9514f89" /><Relationship Type="http://schemas.openxmlformats.org/officeDocument/2006/relationships/notesSlide" Target="/ppt/notesSlides/notesSlide6.xml" Id="Rceedab669a7d467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a49a5b2e2e439a" /><Relationship Type="http://schemas.openxmlformats.org/officeDocument/2006/relationships/image" Target="/ppt/media/image6.png" Id="Rbdc0982e154d4349" /><Relationship Type="http://schemas.openxmlformats.org/officeDocument/2006/relationships/notesSlide" Target="/ppt/notesSlides/notesSlide7.xml" Id="R6dfc868d90cb45d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19ea4d5aa44819" /><Relationship Type="http://schemas.openxmlformats.org/officeDocument/2006/relationships/image" Target="/ppt/media/image7.png" Id="R8b9bd26cc18f4784" /><Relationship Type="http://schemas.openxmlformats.org/officeDocument/2006/relationships/notesSlide" Target="/ppt/notesSlides/notesSlide8.xml" Id="R08a7207638cc45f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2ff4990b4e4910" /><Relationship Type="http://schemas.openxmlformats.org/officeDocument/2006/relationships/image" Target="/ppt/media/image8.png" Id="R0649c0e058c44356" /><Relationship Type="http://schemas.openxmlformats.org/officeDocument/2006/relationships/notesSlide" Target="/ppt/notesSlides/notesSlide9.xml" Id="R8a819328a80a4af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2d883549174dfc" /><Relationship Type="http://schemas.openxmlformats.org/officeDocument/2006/relationships/image" Target="/ppt/media/image9.png" Id="Rcb6cb21e3b564ac6" /><Relationship Type="http://schemas.openxmlformats.org/officeDocument/2006/relationships/notesSlide" Target="/ppt/notesSlides/notesSlide10.xml" Id="Rafc00ac30af5403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a5452b98b54e19" /><Relationship Type="http://schemas.openxmlformats.org/officeDocument/2006/relationships/notesSlide" Target="/ppt/notesSlides/notesSlide11.xml" Id="R3b7bd06fb3d04a9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5eb3b4fe364930" /><Relationship Type="http://schemas.openxmlformats.org/officeDocument/2006/relationships/image" Target="/ppt/media/image10.png" Id="R5e3f9695b0344f42" /><Relationship Type="http://schemas.openxmlformats.org/officeDocument/2006/relationships/notesSlide" Target="/ppt/notesSlides/notesSlide12.xml" Id="R67d38e0a1d3b4e2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c17974e5414ffd" /><Relationship Type="http://schemas.openxmlformats.org/officeDocument/2006/relationships/image" Target="/ppt/media/image11.png" Id="Rcaace3bbe7354ebc" /><Relationship Type="http://schemas.openxmlformats.org/officeDocument/2006/relationships/notesSlide" Target="/ppt/notesSlides/notesSlide13.xml" Id="Rb20aefecc085461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6b910447ac42ce" /><Relationship Type="http://schemas.openxmlformats.org/officeDocument/2006/relationships/notesSlide" Target="/ppt/notesSlides/notesSlide14.xml" Id="Rd57be7133b6d4d9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2c5e45056c4851" /><Relationship Type="http://schemas.openxmlformats.org/officeDocument/2006/relationships/notesSlide" Target="/ppt/notesSlides/notesSlide15.xml" Id="R69eb9074b0764aa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96946b4b394900" /><Relationship Type="http://schemas.openxmlformats.org/officeDocument/2006/relationships/notesSlide" Target="/ppt/notesSlides/notesSlide16.xml" Id="R58cdf017d881446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E3CC4A-05BC-4E61-BFE9-FFDB66350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LOCAL GOMOKU STUDY WORKSPACE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E18F3B-E62D-475C-B671-F810FB510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476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21716"/>
                </a:solidFill>
              </a:defRPr>
            </a:pPr>
            <a:r>
              <a:rPr sz="5400" b="1">
                <a:solidFill>
                  <a:srgbClr val="121716"/>
                </a:solidFill>
              </a:rPr>
              <a:t>半步五子棋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DDD678-29DF-4A32-B330-B3EB6580B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47625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F644F"/>
                </a:solidFill>
              </a:defRPr>
            </a:pPr>
            <a:r>
              <a:rPr sz="2625" b="1">
                <a:solidFill>
                  <a:srgbClr val="2F644F"/>
                </a:solidFill>
              </a:rPr>
              <a:t>在本机，把每一盘棋</a:t>
            </a:r>
          </a:p>
          <a:p xmlns:a="http://schemas.openxmlformats.org/drawingml/2006/main">
            <a:pPr algn="l">
              <a:defRPr sz="2625" b="1">
                <a:solidFill>
                  <a:srgbClr val="2F644F"/>
                </a:solidFill>
              </a:defRPr>
            </a:pPr>
            <a:r>
              <a:rPr sz="2625" b="1">
                <a:solidFill>
                  <a:srgbClr val="2F644F"/>
                </a:solidFill>
              </a:rPr>
              <a:t>变成可以继续研究的知识。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6E4175-BF97-4FF4-8C9A-E5CCF4444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A66"/>
                </a:solidFill>
              </a:defRPr>
            </a:pPr>
            <a:r>
              <a:rPr sz="1725" b="0">
                <a:solidFill>
                  <a:srgbClr val="5F6A66"/>
                </a:solidFill>
              </a:rPr>
              <a:t>打谱 · 读谱 · 做题 · AI 对战</a:t>
            </a:r>
          </a:p>
          <a:p xmlns:a="http://schemas.openxmlformats.org/drawingml/2006/main">
            <a:pPr algn="l">
              <a:defRPr sz="1725" b="0">
                <a:solidFill>
                  <a:srgbClr val="5F6A66"/>
                </a:solidFill>
              </a:defRPr>
            </a:pPr>
            <a:r>
              <a:rPr sz="1725" b="0">
                <a:solidFill>
                  <a:srgbClr val="5F6A66"/>
                </a:solidFill>
              </a:rPr>
              <a:t>棋谱库、分支树、规则说明与本机标注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9626BE-AE57-4302-9EC3-D4D70105D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676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91C35F-E27F-4E8E-9B83-689BFCB5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238750" cy="5562600"/>
          </a:xfrm>
          <a:prstGeom xmlns:a="http://schemas.openxmlformats.org/drawingml/2006/main" prst="roundRect">
            <a:avLst>
              <a:gd name="adj" fmla="val 3273"/>
            </a:avLst>
          </a:prstGeom>
          <a:solidFill xmlns:a="http://schemas.openxmlformats.org/drawingml/2006/main">
            <a:srgbClr val="F4F3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84f022a74f4023"/>
          <a:stretch xmlns:a="http://schemas.openxmlformats.org/drawingml/2006/main"/>
        </p:blipFill>
        <p:spPr>
          <a:xfrm xmlns:a="http://schemas.openxmlformats.org/drawingml/2006/main">
            <a:off x="6362700" y="1603772"/>
            <a:ext cx="5048250" cy="3155156"/>
          </a:xfrm>
          <a:prstGeom xmlns:a="http://schemas.openxmlformats.org/drawingml/2006/main" prst="roundRect">
            <a:avLst>
              <a:gd name="adj" fmla="val 2642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7D31F7-92CE-495B-922D-B498F09B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748FA2-835E-49C7-9EFD-B467319B3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A66"/>
                </a:solidFill>
              </a:defRPr>
            </a:pPr>
            <a:r>
              <a:rPr sz="1125" b="0">
                <a:solidFill>
                  <a:srgbClr val="5F6A66"/>
                </a:solidFill>
              </a:rPr>
              <a:t>半步五子棋 · 本地棋谱研究工具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4326C8-F2ED-4BA0-9B35-BA4901E6C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A66"/>
                </a:solidFill>
              </a:defRPr>
            </a:pPr>
            <a:r>
              <a:rPr sz="1125" b="0">
                <a:solidFill>
                  <a:srgbClr val="5F6A66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614102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E580FF3-AA76-4A1B-B631-BAA73DD51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21716"/>
                </a:solidFill>
              </a:defRPr>
            </a:pPr>
            <a:r>
              <a:rPr sz="3600" b="1">
                <a:solidFill>
                  <a:srgbClr val="121716"/>
                </a:solidFill>
              </a:rPr>
              <a:t>一块棋盘，串起四种训练动作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58D650-6D1E-440C-A5DC-64E2CAF42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A66"/>
                </a:solidFill>
              </a:defRPr>
            </a:pPr>
            <a:r>
              <a:rPr sz="1725" b="0">
                <a:solidFill>
                  <a:srgbClr val="5F6A66"/>
                </a:solidFill>
              </a:rPr>
              <a:t>不是孤立工具的集合，而是一条从落子、理解到验证的学习路径。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DBF940-9EF6-434C-A6B1-6DBB62D7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742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29E5FE-D8B1-417C-8515-B5E5E627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1336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1716"/>
                </a:solidFill>
              </a:defRPr>
            </a:pPr>
            <a:r>
              <a:rPr sz="2250" b="1">
                <a:solidFill>
                  <a:srgbClr val="121716"/>
                </a:solidFill>
              </a:rPr>
              <a:t>打谱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A0827A-E897-4992-9B1E-F62175A4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609850"/>
            <a:ext cx="4095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A66"/>
                </a:solidFill>
              </a:defRPr>
            </a:pPr>
            <a:r>
              <a:rPr sz="1575" b="0">
                <a:solidFill>
                  <a:srgbClr val="5F6A66"/>
                </a:solidFill>
              </a:rPr>
              <a:t>记录主线与变化，把每一步留下来。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1FDE77-9FC4-4B5A-A72A-BC91756FA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392388-F4A4-45B7-B3DA-2C253BD64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33600"/>
            <a:ext cx="742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ED5BD4-9C72-4F29-A72F-9D091FFB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1336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1716"/>
                </a:solidFill>
              </a:defRPr>
            </a:pPr>
            <a:r>
              <a:rPr sz="2250" b="1">
                <a:solidFill>
                  <a:srgbClr val="121716"/>
                </a:solidFill>
              </a:rPr>
              <a:t>读谱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427F4F-0E03-48F7-B647-711373E9E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609850"/>
            <a:ext cx="4095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A66"/>
                </a:solidFill>
              </a:defRPr>
            </a:pPr>
            <a:r>
              <a:rPr sz="1575" b="0">
                <a:solidFill>
                  <a:srgbClr val="5F6A66"/>
                </a:solidFill>
              </a:rPr>
              <a:t>只读浏览已有变化，保护原谱不被误改。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C11807-D471-49D2-80F5-17171B70A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147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E9B1AB-E92B-43FF-8F03-CBD4E1CB7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742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2020ED-A0D7-4D1D-A1D6-80FADBA99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1148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1716"/>
                </a:solidFill>
              </a:defRPr>
            </a:pPr>
            <a:r>
              <a:rPr sz="2250" b="1">
                <a:solidFill>
                  <a:srgbClr val="121716"/>
                </a:solidFill>
              </a:rPr>
              <a:t>做题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9D8C7A-3733-4622-84E2-AFECF3910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591050"/>
            <a:ext cx="4095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A66"/>
                </a:solidFill>
              </a:defRPr>
            </a:pPr>
            <a:r>
              <a:rPr sz="1575" b="0">
                <a:solidFill>
                  <a:srgbClr val="5F6A66"/>
                </a:solidFill>
              </a:rPr>
              <a:t>把棋形判断变成主动练习与反馈。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757E86-1A6B-4C38-98C3-72CF003FC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9BAB26-3C2E-44B4-8E8E-1E5D087A1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14800"/>
            <a:ext cx="742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CF8D66-3DA1-4C11-B475-9E2E5914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1148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1716"/>
                </a:solidFill>
              </a:defRPr>
            </a:pPr>
            <a:r>
              <a:rPr sz="2250" b="1">
                <a:solidFill>
                  <a:srgbClr val="121716"/>
                </a:solidFill>
              </a:rPr>
              <a:t>AI 对战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7553BD-9B45-4CD1-B760-8FFAD7DB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91050"/>
            <a:ext cx="4095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A66"/>
                </a:solidFill>
              </a:defRPr>
            </a:pPr>
            <a:r>
              <a:rPr sz="1575" b="0">
                <a:solidFill>
                  <a:srgbClr val="5F6A66"/>
                </a:solidFill>
              </a:rPr>
              <a:t>按规则、强度和执子方式开始本机练习。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64809F-9D04-4D30-9D77-73FBC7F9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6959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8151AB-6F47-48E8-BD14-75B753391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A452A3-B12E-4218-BCB8-3082C87FA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A66"/>
                </a:solidFill>
              </a:defRPr>
            </a:pPr>
            <a:r>
              <a:rPr sz="1125" b="0">
                <a:solidFill>
                  <a:srgbClr val="5F6A66"/>
                </a:solidFill>
              </a:rPr>
              <a:t>半步五子棋 · 本地棋谱研究工具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44D810-6892-4251-8CAE-792F305C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A66"/>
                </a:solidFill>
              </a:defRPr>
            </a:pPr>
            <a:r>
              <a:rPr sz="1125" b="0">
                <a:solidFill>
                  <a:srgbClr val="5F6A66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059270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30B1E11-C0E0-439A-9245-42D6B92DC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21716"/>
                </a:solidFill>
              </a:defRPr>
            </a:pPr>
            <a:r>
              <a:rPr sz="3600" b="1">
                <a:solidFill>
                  <a:srgbClr val="121716"/>
                </a:solidFill>
              </a:rPr>
              <a:t>打谱把每一步变成可回看的记录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6AB9E6-6EAE-489F-B017-61674BC1B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A66"/>
                </a:solidFill>
              </a:defRPr>
            </a:pPr>
            <a:r>
              <a:rPr sz="1725" b="0">
                <a:solidFill>
                  <a:srgbClr val="5F6A66"/>
                </a:solidFill>
              </a:rPr>
              <a:t>落子编号、当前手数、轮次、保存状态和导航始终围绕同一块棋盘。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85B7AB-5856-471F-A690-33C7D284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6858000" cy="4114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4F3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d8638557924dd7"/>
          <a:stretch xmlns:a="http://schemas.openxmlformats.org/drawingml/2006/main"/>
        </p:blipFill>
        <p:spPr>
          <a:xfrm xmlns:a="http://schemas.openxmlformats.org/drawingml/2006/main">
            <a:off x="1005840" y="1962150"/>
            <a:ext cx="6217920" cy="3886200"/>
          </a:xfrm>
          <a:prstGeom xmlns:a="http://schemas.openxmlformats.org/drawingml/2006/main" prst="roundRect">
            <a:avLst>
              <a:gd name="adj" fmla="val 294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DA6AC3-B98D-4B83-947C-45F94627C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383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记录的不只是结果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478A25-3790-4164-A2DB-F94EF1494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7650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1716"/>
                </a:solidFill>
              </a:defRPr>
            </a:pPr>
            <a:r>
              <a:rPr sz="2100" b="1">
                <a:solidFill>
                  <a:srgbClr val="121716"/>
                </a:solidFill>
              </a:rPr>
              <a:t>逐手编号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545DE0-646E-495F-855F-9D9D3D67B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52750"/>
            <a:ext cx="333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A66"/>
                </a:solidFill>
              </a:defRPr>
            </a:pPr>
            <a:r>
              <a:rPr sz="1575" b="0">
                <a:solidFill>
                  <a:srgbClr val="5F6A66"/>
                </a:solidFill>
              </a:rPr>
              <a:t>棋盘直接标出走子顺序，复盘时无需猜测先后。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FA5CE0-1C4C-4A49-8B95-BFA28E708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1475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1716"/>
                </a:solidFill>
              </a:defRPr>
            </a:pPr>
            <a:r>
              <a:rPr sz="2100" b="1">
                <a:solidFill>
                  <a:srgbClr val="121716"/>
                </a:solidFill>
              </a:rPr>
              <a:t>随时导航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DA48BE-B428-498F-94FD-79A3E451E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91000"/>
            <a:ext cx="333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A66"/>
                </a:solidFill>
              </a:defRPr>
            </a:pPr>
            <a:r>
              <a:rPr sz="1575" b="0">
                <a:solidFill>
                  <a:srgbClr val="5F6A66"/>
                </a:solidFill>
              </a:rPr>
              <a:t>起点、上一手、下一手、终点都在同一操作区。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FC2E84-EDD2-42BE-9E5C-9A1F0FBDF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95300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1716"/>
                </a:solidFill>
              </a:defRPr>
            </a:pPr>
            <a:r>
              <a:rPr sz="2100" b="1">
                <a:solidFill>
                  <a:srgbClr val="121716"/>
                </a:solidFill>
              </a:rPr>
              <a:t>保存边界清楚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508C7B-4757-4F36-8E4E-E3120CE0A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429250"/>
            <a:ext cx="333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A66"/>
                </a:solidFill>
              </a:defRPr>
            </a:pPr>
            <a:r>
              <a:rPr sz="1500" b="0">
                <a:solidFill>
                  <a:srgbClr val="5F6A66"/>
                </a:solidFill>
              </a:rPr>
              <a:t>已保存与未保存草稿状态明确可见。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4B407D-BF9B-4233-9CF9-1044350D2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4B5624-4595-4CF1-9DB2-0C094A189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A66"/>
                </a:solidFill>
              </a:defRPr>
            </a:pPr>
            <a:r>
              <a:rPr sz="1125" b="0">
                <a:solidFill>
                  <a:srgbClr val="5F6A66"/>
                </a:solidFill>
              </a:rPr>
              <a:t>半步五子棋 · 本地棋谱研究工具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52C439-BF14-4C44-8FE7-0764BFC8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A66"/>
                </a:solidFill>
              </a:defRPr>
            </a:pPr>
            <a:r>
              <a:rPr sz="1125" b="0">
                <a:solidFill>
                  <a:srgbClr val="5F6A66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821115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2345A3F-5C1C-4FBD-BA64-26168B440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21716"/>
                </a:solidFill>
              </a:defRPr>
            </a:pPr>
            <a:r>
              <a:rPr sz="3600" b="1">
                <a:solidFill>
                  <a:srgbClr val="121716"/>
                </a:solidFill>
              </a:rPr>
              <a:t>棋谱树让主线与变化都留得住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52C5BD-243C-4A76-813C-1E945FE9B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A66"/>
                </a:solidFill>
              </a:defRPr>
            </a:pPr>
            <a:r>
              <a:rPr sz="1725" b="0">
                <a:solidFill>
                  <a:srgbClr val="5F6A66"/>
                </a:solidFill>
              </a:rPr>
              <a:t>主线继续向前，分支也有自己的位置；研究过程不必被“覆盖”。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DF3E48-C624-4370-90DE-6F355EF52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VARIATION TREE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99524A-44A3-4E5B-8854-3316E7DC2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095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644F"/>
                </a:solidFill>
              </a:defRPr>
            </a:pPr>
            <a:r>
              <a:rPr sz="2550" b="1">
                <a:solidFill>
                  <a:srgbClr val="2F644F"/>
                </a:solidFill>
              </a:rPr>
              <a:t>每一次“如果这样下”</a:t>
            </a:r>
          </a:p>
          <a:p xmlns:a="http://schemas.openxmlformats.org/drawingml/2006/main">
            <a:pPr algn="l">
              <a:defRPr sz="2550" b="1">
                <a:solidFill>
                  <a:srgbClr val="2F644F"/>
                </a:solidFill>
              </a:defRPr>
            </a:pPr>
            <a:r>
              <a:rPr sz="2550" b="1">
                <a:solidFill>
                  <a:srgbClr val="2F644F"/>
                </a:solidFill>
              </a:rPr>
              <a:t>都能成为可返回的节点。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15464B-DA0A-4324-88E9-ECD70FF82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409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A66"/>
                </a:solidFill>
              </a:defRPr>
            </a:pPr>
            <a:r>
              <a:rPr sz="1650" b="0">
                <a:solidFill>
                  <a:srgbClr val="5F6A66"/>
                </a:solidFill>
              </a:rPr>
              <a:t>分支树面板把变化结构、当前节点和导航放在一起。适合整理定式、比较应手，也适合把讲解拆成清晰的变化路径。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22DB6B-F962-4C9F-8B69-082AB8AD7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2571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DBC9EF-8BDA-4FEB-B291-B3C1CD764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09750"/>
            <a:ext cx="6286500" cy="417195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F4F3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5c4299b28449e5"/>
          <a:stretch xmlns:a="http://schemas.openxmlformats.org/drawingml/2006/main"/>
        </p:blipFill>
        <p:spPr>
          <a:xfrm xmlns:a="http://schemas.openxmlformats.org/drawingml/2006/main">
            <a:off x="5334000" y="2002631"/>
            <a:ext cx="6057900" cy="3786188"/>
          </a:xfrm>
          <a:prstGeom xmlns:a="http://schemas.openxmlformats.org/drawingml/2006/main" prst="roundRect">
            <a:avLst>
              <a:gd name="adj" fmla="val 2899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DEA926-53B3-4178-A144-D818EB0B8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F20303-26A4-4712-AB52-C0829CA18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A66"/>
                </a:solidFill>
              </a:defRPr>
            </a:pPr>
            <a:r>
              <a:rPr sz="1125" b="0">
                <a:solidFill>
                  <a:srgbClr val="5F6A66"/>
                </a:solidFill>
              </a:rPr>
              <a:t>半步五子棋 · 本地棋谱研究工具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9D526D-4703-4370-AE80-80CFA1F2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A66"/>
                </a:solidFill>
              </a:defRPr>
            </a:pPr>
            <a:r>
              <a:rPr sz="1125" b="0">
                <a:solidFill>
                  <a:srgbClr val="5F6A66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676370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C6FD8CD-55BB-47A8-AF7C-EDC8E54F9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21716"/>
                </a:solidFill>
              </a:defRPr>
            </a:pPr>
            <a:r>
              <a:rPr sz="3600" b="1">
                <a:solidFill>
                  <a:srgbClr val="121716"/>
                </a:solidFill>
              </a:rPr>
              <a:t>读谱模式让研究与编辑保持边界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896F0A-7185-42CD-B3CB-9DECFC13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A66"/>
                </a:solidFill>
              </a:defRPr>
            </a:pPr>
            <a:r>
              <a:rPr sz="1725" b="0">
                <a:solidFill>
                  <a:srgbClr val="5F6A66"/>
                </a:solidFill>
              </a:rPr>
              <a:t>可以浏览已有变化、切换分支与做本机标注，但不会把原棋谱变成草稿。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036300-BDDE-41A6-8951-A3D9F8773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334000" cy="417195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F4F3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751aa759cb4cf5"/>
          <a:stretch xmlns:a="http://schemas.openxmlformats.org/drawingml/2006/main"/>
        </p:blipFill>
        <p:spPr>
          <a:xfrm xmlns:a="http://schemas.openxmlformats.org/drawingml/2006/main">
            <a:off x="800100" y="2300288"/>
            <a:ext cx="5105400" cy="3190875"/>
          </a:xfrm>
          <a:prstGeom xmlns:a="http://schemas.openxmlformats.org/drawingml/2006/main" prst="roundRect">
            <a:avLst>
              <a:gd name="adj" fmla="val 2899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F789C5-D7D1-44FF-A7F1-FA324565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383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EDD0E7-9E5E-4D3C-8D52-504188FF8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03835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1716"/>
                </a:solidFill>
              </a:defRPr>
            </a:pPr>
            <a:r>
              <a:rPr sz="2100" b="1">
                <a:solidFill>
                  <a:srgbClr val="121716"/>
                </a:solidFill>
              </a:rPr>
              <a:t>浏览已有变化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8A1A8E-0AD0-4CE7-B07A-CFCCB0D90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514600"/>
            <a:ext cx="4191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A66"/>
                </a:solidFill>
              </a:defRPr>
            </a:pPr>
            <a:r>
              <a:rPr sz="1575" b="0">
                <a:solidFill>
                  <a:srgbClr val="5F6A66"/>
                </a:solidFill>
              </a:rPr>
              <a:t>沿主线和分支前后移动，专注理解棋局。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BFF892-7B6F-49E0-8A87-946B18263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813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05FA4A-FE21-4BA5-8EF3-D35726240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18135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1716"/>
                </a:solidFill>
              </a:defRPr>
            </a:pPr>
            <a:r>
              <a:rPr sz="2100" b="1">
                <a:solidFill>
                  <a:srgbClr val="121716"/>
                </a:solidFill>
              </a:rPr>
              <a:t>保留入口反馈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F1278D-CCA4-4BEF-821D-D996BD492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657600"/>
            <a:ext cx="4191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A66"/>
                </a:solidFill>
              </a:defRPr>
            </a:pPr>
            <a:r>
              <a:rPr sz="1575" b="0">
                <a:solidFill>
                  <a:srgbClr val="5F6A66"/>
                </a:solidFill>
              </a:rPr>
              <a:t>编辑型入口仍可见，点击时明确提示读谱模式不能修改。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B28144-4AA7-4C54-B033-1AE59BE6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243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472DBC-A303-4A80-A9F2-BC2137E0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32435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1716"/>
                </a:solidFill>
              </a:defRPr>
            </a:pPr>
            <a:r>
              <a:rPr sz="2100" b="1">
                <a:solidFill>
                  <a:srgbClr val="121716"/>
                </a:solidFill>
              </a:rPr>
              <a:t>标注独立存储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B9954B-EE94-4729-AB18-DF95EF9F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800600"/>
            <a:ext cx="4191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A66"/>
                </a:solidFill>
              </a:defRPr>
            </a:pPr>
            <a:r>
              <a:rPr sz="1575" b="0">
                <a:solidFill>
                  <a:srgbClr val="5F6A66"/>
                </a:solidFill>
              </a:rPr>
              <a:t>分析候选留在本机标注层，不改原谱内容。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E9E92E-4544-418F-9C3C-C66C542E8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27F906-D38C-4261-A4A4-9DA4E2C8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A66"/>
                </a:solidFill>
              </a:defRPr>
            </a:pPr>
            <a:r>
              <a:rPr sz="1125" b="0">
                <a:solidFill>
                  <a:srgbClr val="5F6A66"/>
                </a:solidFill>
              </a:rPr>
              <a:t>半步五子棋 · 本地棋谱研究工具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01814E-8150-4452-ADD2-E98E1ADC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A66"/>
                </a:solidFill>
              </a:defRPr>
            </a:pPr>
            <a:r>
              <a:rPr sz="1125" b="0">
                <a:solidFill>
                  <a:srgbClr val="5F6A66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695954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5ABF4EE-951C-48CF-8862-2C1154592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21716"/>
                </a:solidFill>
              </a:defRPr>
            </a:pPr>
            <a:r>
              <a:rPr sz="3600" b="1">
                <a:solidFill>
                  <a:srgbClr val="121716"/>
                </a:solidFill>
              </a:rPr>
              <a:t>棋谱库把单局与大棋谱放在同一入口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1D8A6E-D958-4865-8458-560ADD40A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A66"/>
                </a:solidFill>
              </a:defRPr>
            </a:pPr>
            <a:r>
              <a:rPr sz="1725" b="0">
                <a:solidFill>
                  <a:srgbClr val="5F6A66"/>
                </a:solidFill>
              </a:rPr>
              <a:t>搜索、分类、导入、批量处理和图片识谱都围绕长期积累组织。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553CC6-FCB4-4F79-B3C5-A59403FCA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239000" cy="4210050"/>
          </a:xfrm>
          <a:prstGeom xmlns:a="http://schemas.openxmlformats.org/drawingml/2006/main" prst="roundRect">
            <a:avLst>
              <a:gd name="adj" fmla="val 4072"/>
            </a:avLst>
          </a:prstGeom>
          <a:solidFill xmlns:a="http://schemas.openxmlformats.org/drawingml/2006/main">
            <a:srgbClr val="F4F3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a2a648b9514f89"/>
          <a:stretch xmlns:a="http://schemas.openxmlformats.org/drawingml/2006/main"/>
        </p:blipFill>
        <p:spPr>
          <a:xfrm xmlns:a="http://schemas.openxmlformats.org/drawingml/2006/main">
            <a:off x="1120140" y="1905000"/>
            <a:ext cx="6370320" cy="3981450"/>
          </a:xfrm>
          <a:prstGeom xmlns:a="http://schemas.openxmlformats.org/drawingml/2006/main" prst="roundRect">
            <a:avLst>
              <a:gd name="adj" fmla="val 287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70100B-A6A0-44AD-A7FA-D2C16869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431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一套库，容纳不同规模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FBCFBE-81E5-4489-B63C-E56BCA773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00300"/>
            <a:ext cx="300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1716"/>
                </a:solidFill>
              </a:defRPr>
            </a:pPr>
            <a:r>
              <a:rPr sz="2025" b="1">
                <a:solidFill>
                  <a:srgbClr val="121716"/>
                </a:solidFill>
              </a:rPr>
              <a:t>棋谱与大棋谱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38068B-FC2A-48B5-A426-E1520B76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76550"/>
            <a:ext cx="3009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A66"/>
                </a:solidFill>
              </a:defRPr>
            </a:pPr>
            <a:r>
              <a:rPr sz="1575" b="0">
                <a:solidFill>
                  <a:srgbClr val="5F6A66"/>
                </a:solidFill>
              </a:rPr>
              <a:t>单局研究与大型合集在同一套浏览体系中切换。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1B6E52-F22F-48D0-B49B-0B17BED75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57600"/>
            <a:ext cx="300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1716"/>
                </a:solidFill>
              </a:defRPr>
            </a:pPr>
            <a:r>
              <a:rPr sz="2025" b="1">
                <a:solidFill>
                  <a:srgbClr val="121716"/>
                </a:solidFill>
              </a:rPr>
              <a:t>搜索与分类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47D038-D98A-40A7-A01C-DB4854F40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133850"/>
            <a:ext cx="3009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A66"/>
                </a:solidFill>
              </a:defRPr>
            </a:pPr>
            <a:r>
              <a:rPr sz="1575" b="0">
                <a:solidFill>
                  <a:srgbClr val="5F6A66"/>
                </a:solidFill>
              </a:rPr>
              <a:t>按棋谱名、棋手、主题和文件夹快速定位。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9AA3EF-290B-4661-B018-693CFCD1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914900"/>
            <a:ext cx="300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1716"/>
                </a:solidFill>
              </a:defRPr>
            </a:pPr>
            <a:r>
              <a:rPr sz="2025" b="1">
                <a:solidFill>
                  <a:srgbClr val="121716"/>
                </a:solidFill>
              </a:rPr>
              <a:t>图片识谱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251401-ADE8-44D9-8727-9F0EBEC81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391150"/>
            <a:ext cx="3009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A66"/>
                </a:solidFill>
              </a:defRPr>
            </a:pPr>
            <a:r>
              <a:rPr sz="1575" b="0">
                <a:solidFill>
                  <a:srgbClr val="5F6A66"/>
                </a:solidFill>
              </a:rPr>
              <a:t>图片也能成为棋谱整理的起点。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70C1DE-7D81-418A-BDAE-BB428895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CBEB28-32A1-4F79-B2EA-1F4A3D099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A66"/>
                </a:solidFill>
              </a:defRPr>
            </a:pPr>
            <a:r>
              <a:rPr sz="1125" b="0">
                <a:solidFill>
                  <a:srgbClr val="5F6A66"/>
                </a:solidFill>
              </a:rPr>
              <a:t>半步五子棋 · 本地棋谱研究工具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7DA3FB-14FD-4666-BBFC-35E95AA63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A66"/>
                </a:solidFill>
              </a:defRPr>
            </a:pPr>
            <a:r>
              <a:rPr sz="1125" b="0">
                <a:solidFill>
                  <a:srgbClr val="5F6A66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717919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F0C3CF5-4601-4BE4-A368-F20E9195C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21716"/>
                </a:solidFill>
              </a:defRPr>
            </a:pPr>
            <a:r>
              <a:rPr sz="3600" b="1">
                <a:solidFill>
                  <a:srgbClr val="121716"/>
                </a:solidFill>
              </a:rPr>
              <a:t>做题把“看懂”变成主动判断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1113C8-21D4-4551-B338-EBDA909E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A66"/>
                </a:solidFill>
              </a:defRPr>
            </a:pPr>
            <a:r>
              <a:rPr sz="1725" b="0">
                <a:solidFill>
                  <a:srgbClr val="5F6A66"/>
                </a:solidFill>
              </a:rPr>
              <a:t>题目进入同一块棋盘，走子、反馈与复盘保持连贯。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A1EC05-70D5-413F-A691-BFC016D86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PUZZLE PRACTICE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520061-A71E-4815-B01F-58349CBD6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4191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644F"/>
                </a:solidFill>
              </a:defRPr>
            </a:pPr>
            <a:r>
              <a:rPr sz="2550" b="1">
                <a:solidFill>
                  <a:srgbClr val="2F644F"/>
                </a:solidFill>
              </a:rPr>
              <a:t>先判断，再落子。</a:t>
            </a:r>
          </a:p>
          <a:p xmlns:a="http://schemas.openxmlformats.org/drawingml/2006/main">
            <a:pPr algn="l">
              <a:defRPr sz="2550" b="1">
                <a:solidFill>
                  <a:srgbClr val="2F644F"/>
                </a:solidFill>
              </a:defRPr>
            </a:pPr>
            <a:r>
              <a:rPr sz="2550" b="1">
                <a:solidFill>
                  <a:srgbClr val="2F644F"/>
                </a:solidFill>
              </a:rPr>
              <a:t>答案不是终点，棋形才是。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9AF88B-9E87-4F56-9220-889059B63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09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A66"/>
                </a:solidFill>
              </a:defRPr>
            </a:pPr>
            <a:r>
              <a:rPr sz="1650" b="0">
                <a:solidFill>
                  <a:srgbClr val="5F6A66"/>
                </a:solidFill>
              </a:rPr>
              <a:t>做题模式支持从题目进入棋盘，在真实局面里验证候选，并把结果带回复盘流程。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E581AC-59E7-4559-9141-88560EF6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970198-ABAD-46C6-B774-7164D35F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771650"/>
            <a:ext cx="6286500" cy="4229100"/>
          </a:xfrm>
          <a:prstGeom xmlns:a="http://schemas.openxmlformats.org/drawingml/2006/main" prst="roundRect">
            <a:avLst>
              <a:gd name="adj" fmla="val 4054"/>
            </a:avLst>
          </a:prstGeom>
          <a:solidFill xmlns:a="http://schemas.openxmlformats.org/drawingml/2006/main">
            <a:srgbClr val="F4F3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c0982e154d4349"/>
          <a:stretch xmlns:a="http://schemas.openxmlformats.org/drawingml/2006/main"/>
        </p:blipFill>
        <p:spPr>
          <a:xfrm xmlns:a="http://schemas.openxmlformats.org/drawingml/2006/main">
            <a:off x="5334000" y="1993106"/>
            <a:ext cx="6057900" cy="3786188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618EDD-12B3-4B5E-BE4E-03422030E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D77E9C-6B8F-4038-909E-324805CE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A66"/>
                </a:solidFill>
              </a:defRPr>
            </a:pPr>
            <a:r>
              <a:rPr sz="1125" b="0">
                <a:solidFill>
                  <a:srgbClr val="5F6A66"/>
                </a:solidFill>
              </a:rPr>
              <a:t>半步五子棋 · 本地棋谱研究工具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087881-1144-4AF2-9315-FCCEFF7E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A66"/>
                </a:solidFill>
              </a:defRPr>
            </a:pPr>
            <a:r>
              <a:rPr sz="1125" b="0">
                <a:solidFill>
                  <a:srgbClr val="5F6A66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634746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D32B7BD-7E02-4D22-92A0-1E5EF96E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21716"/>
                </a:solidFill>
              </a:defRPr>
            </a:pPr>
            <a:r>
              <a:rPr sz="3600" b="1">
                <a:solidFill>
                  <a:srgbClr val="121716"/>
                </a:solidFill>
              </a:rPr>
              <a:t>AI 对战先选规则，再选强度与执子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939A4C-369A-43DA-A398-99B06CD8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A66"/>
                </a:solidFill>
              </a:defRPr>
            </a:pPr>
            <a:r>
              <a:rPr sz="1725" b="0">
                <a:solidFill>
                  <a:srgbClr val="5F6A66"/>
                </a:solidFill>
              </a:rPr>
              <a:t>八种预设集中在一个规则目录；有禁、无禁直接写在规则名称后。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0652ED-DF94-4D61-B9B4-4495980A8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6667500" cy="4229100"/>
          </a:xfrm>
          <a:prstGeom xmlns:a="http://schemas.openxmlformats.org/drawingml/2006/main" prst="roundRect">
            <a:avLst>
              <a:gd name="adj" fmla="val 4054"/>
            </a:avLst>
          </a:prstGeom>
          <a:solidFill xmlns:a="http://schemas.openxmlformats.org/drawingml/2006/main">
            <a:srgbClr val="F4F3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9bd26cc18f4784"/>
          <a:stretch xmlns:a="http://schemas.openxmlformats.org/drawingml/2006/main"/>
        </p:blipFill>
        <p:spPr>
          <a:xfrm xmlns:a="http://schemas.openxmlformats.org/drawingml/2006/main">
            <a:off x="819150" y="1885950"/>
            <a:ext cx="6400800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855874-593B-4962-8FAF-168AEA4E6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240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规则目录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CD5E78-CBE7-40FC-BC7C-E95798A04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43150"/>
            <a:ext cx="33528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1716"/>
                </a:solidFill>
              </a:defRPr>
            </a:pPr>
            <a:r>
              <a:rPr sz="1800" b="1">
                <a:solidFill>
                  <a:srgbClr val="121716"/>
                </a:solidFill>
              </a:rPr>
              <a:t>无禁手 · 无禁</a:t>
            </a:r>
          </a:p>
          <a:p xmlns:a="http://schemas.openxmlformats.org/drawingml/2006/main">
            <a:pPr algn="l">
              <a:defRPr sz="1800" b="1">
                <a:solidFill>
                  <a:srgbClr val="121716"/>
                </a:solidFill>
              </a:defRPr>
            </a:pPr>
            <a:r>
              <a:rPr sz="1800" b="1">
                <a:solidFill>
                  <a:srgbClr val="121716"/>
                </a:solidFill>
              </a:rPr>
              <a:t>无禁6不胜 · 无禁</a:t>
            </a:r>
          </a:p>
          <a:p xmlns:a="http://schemas.openxmlformats.org/drawingml/2006/main">
            <a:pPr algn="l">
              <a:defRPr sz="1800" b="1">
                <a:solidFill>
                  <a:srgbClr val="121716"/>
                </a:solidFill>
              </a:defRPr>
            </a:pPr>
            <a:r>
              <a:rPr sz="1800" b="1">
                <a:solidFill>
                  <a:srgbClr val="121716"/>
                </a:solidFill>
              </a:rPr>
              <a:t>一手交换 · 无禁</a:t>
            </a:r>
          </a:p>
          <a:p xmlns:a="http://schemas.openxmlformats.org/drawingml/2006/main">
            <a:pPr algn="l">
              <a:defRPr sz="1800" b="1">
                <a:solidFill>
                  <a:srgbClr val="121716"/>
                </a:solidFill>
              </a:defRPr>
            </a:pPr>
            <a:r>
              <a:rPr sz="1800" b="1">
                <a:solidFill>
                  <a:srgbClr val="121716"/>
                </a:solidFill>
              </a:rPr>
              <a:t>三手交换 · 无禁</a:t>
            </a:r>
          </a:p>
          <a:p xmlns:a="http://schemas.openxmlformats.org/drawingml/2006/main">
            <a:pPr algn="l">
              <a:defRPr sz="1800" b="1">
                <a:solidFill>
                  <a:srgbClr val="121716"/>
                </a:solidFill>
              </a:defRPr>
            </a:pPr>
            <a:r>
              <a:rPr sz="1800" b="1">
                <a:solidFill>
                  <a:srgbClr val="121716"/>
                </a:solidFill>
              </a:rPr>
              <a:t>五手两打 · 有禁</a:t>
            </a:r>
          </a:p>
          <a:p xmlns:a="http://schemas.openxmlformats.org/drawingml/2006/main">
            <a:pPr algn="l">
              <a:defRPr sz="1800" b="1">
                <a:solidFill>
                  <a:srgbClr val="121716"/>
                </a:solidFill>
              </a:defRPr>
            </a:pPr>
            <a:r>
              <a:rPr sz="1800" b="1">
                <a:solidFill>
                  <a:srgbClr val="121716"/>
                </a:solidFill>
              </a:rPr>
              <a:t>五手多打 · 有禁</a:t>
            </a:r>
          </a:p>
          <a:p xmlns:a="http://schemas.openxmlformats.org/drawingml/2006/main">
            <a:pPr algn="l">
              <a:defRPr sz="1800" b="1">
                <a:solidFill>
                  <a:srgbClr val="121716"/>
                </a:solidFill>
              </a:defRPr>
            </a:pPr>
            <a:r>
              <a:rPr sz="1800" b="1">
                <a:solidFill>
                  <a:srgbClr val="121716"/>
                </a:solidFill>
              </a:rPr>
              <a:t>塔十 · 有禁</a:t>
            </a:r>
          </a:p>
          <a:p xmlns:a="http://schemas.openxmlformats.org/drawingml/2006/main">
            <a:pPr algn="l">
              <a:defRPr sz="1800" b="1">
                <a:solidFill>
                  <a:srgbClr val="121716"/>
                </a:solidFill>
              </a:defRPr>
            </a:pPr>
            <a:r>
              <a:rPr sz="1800" b="1">
                <a:solidFill>
                  <a:srgbClr val="121716"/>
                </a:solidFill>
              </a:rPr>
              <a:t>塔拉 · 有禁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B1089A-77C1-4C6A-899A-1EAD2806E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57800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A66"/>
                </a:solidFill>
              </a:defRPr>
            </a:pPr>
            <a:r>
              <a:rPr sz="1500" b="0">
                <a:solidFill>
                  <a:srgbClr val="5F6A66"/>
                </a:solidFill>
              </a:rPr>
              <a:t>每项右侧的“？”可直接查看规则流程与胜负判定。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4B9606-EBBE-4E2A-8D49-25B23718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24C8D7-02C4-47A3-82A5-7EF171C50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A66"/>
                </a:solidFill>
              </a:defRPr>
            </a:pPr>
            <a:r>
              <a:rPr sz="1125" b="0">
                <a:solidFill>
                  <a:srgbClr val="5F6A66"/>
                </a:solidFill>
              </a:rPr>
              <a:t>半步五子棋 · 本地棋谱研究工具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140F21-D64C-4736-9FE7-4AF999CF0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A66"/>
                </a:solidFill>
              </a:defRPr>
            </a:pPr>
            <a:r>
              <a:rPr sz="1125" b="0">
                <a:solidFill>
                  <a:srgbClr val="5F6A66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797366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BB9D02B-5310-4A11-9A36-0B221A902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21716"/>
                </a:solidFill>
              </a:defRPr>
            </a:pPr>
            <a:r>
              <a:rPr sz="3600" b="1">
                <a:solidFill>
                  <a:srgbClr val="121716"/>
                </a:solidFill>
              </a:rPr>
              <a:t>五手多打把打点决策放回对局现场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9EDEAB-2A3C-4F9A-BBA8-E364A871B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A66"/>
                </a:solidFill>
              </a:defRPr>
            </a:pPr>
            <a:r>
              <a:rPr sz="1725" b="0">
                <a:solidFill>
                  <a:srgbClr val="5F6A66"/>
                </a:solidFill>
              </a:rPr>
              <a:t>白4完成后再选 3–10 个打点；黑方依次提供 A1、A2…候选。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E85763-9AD5-43FC-8A1F-EE5328F0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6724650" cy="4191000"/>
          </a:xfrm>
          <a:prstGeom xmlns:a="http://schemas.openxmlformats.org/drawingml/2006/main" prst="roundRect">
            <a:avLst>
              <a:gd name="adj" fmla="val 4091"/>
            </a:avLst>
          </a:prstGeom>
          <a:solidFill xmlns:a="http://schemas.openxmlformats.org/drawingml/2006/main">
            <a:srgbClr val="F4F3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49c0e058c44356"/>
          <a:stretch xmlns:a="http://schemas.openxmlformats.org/drawingml/2006/main"/>
        </p:blipFill>
        <p:spPr>
          <a:xfrm xmlns:a="http://schemas.openxmlformats.org/drawingml/2006/main">
            <a:off x="878205" y="1905000"/>
            <a:ext cx="6339840" cy="3962400"/>
          </a:xfrm>
          <a:prstGeom xmlns:a="http://schemas.openxmlformats.org/drawingml/2006/main" prst="roundRect">
            <a:avLst>
              <a:gd name="adj" fmla="val 2885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DE66C7-669D-4B63-BB0D-0E13AE3F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9431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34DE06-89B9-491E-80CB-4F5697F5A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431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1716"/>
                </a:solidFill>
              </a:defRPr>
            </a:pPr>
            <a:r>
              <a:rPr sz="1800" b="1">
                <a:solidFill>
                  <a:srgbClr val="121716"/>
                </a:solidFill>
              </a:rPr>
              <a:t>白4完成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406EFF-1C3D-4749-9E00-7256DEA64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05050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A66"/>
                </a:solidFill>
              </a:defRPr>
            </a:pPr>
            <a:r>
              <a:rPr sz="1425" b="0">
                <a:solidFill>
                  <a:srgbClr val="5F6A66"/>
                </a:solidFill>
              </a:rPr>
              <a:t>交换阶段已结束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D47799-250D-490C-8C83-4A2AEDBCA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8765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9902CF-5256-4AE3-9C70-3A750CDD0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765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1716"/>
                </a:solidFill>
              </a:defRPr>
            </a:pPr>
            <a:r>
              <a:rPr sz="1800" b="1">
                <a:solidFill>
                  <a:srgbClr val="121716"/>
                </a:solidFill>
              </a:rPr>
              <a:t>临场选数量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C5F134-7F30-4D69-83D8-922358935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38500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A66"/>
                </a:solidFill>
              </a:defRPr>
            </a:pPr>
            <a:r>
              <a:rPr sz="1425" b="0">
                <a:solidFill>
                  <a:srgbClr val="5F6A66"/>
                </a:solidFill>
              </a:rPr>
              <a:t>由白方选择 3–10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C0004C-6C5C-4756-B47D-79C35EAA9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8100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D65745-A875-4E0A-A188-93DB7A6BD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8100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1716"/>
                </a:solidFill>
              </a:defRPr>
            </a:pPr>
            <a:r>
              <a:rPr sz="1800" b="1">
                <a:solidFill>
                  <a:srgbClr val="121716"/>
                </a:solidFill>
              </a:rPr>
              <a:t>依次给候选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283267-E1A7-42B9-8808-FCE01924D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71950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A66"/>
                </a:solidFill>
              </a:defRPr>
            </a:pPr>
            <a:r>
              <a:rPr sz="1425" b="0">
                <a:solidFill>
                  <a:srgbClr val="5F6A66"/>
                </a:solidFill>
              </a:rPr>
              <a:t>棋子内显示 A1、A2…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E27E18-8137-4CBB-A56D-5ACC739A5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7434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5FE3A2-D282-459F-8E61-3A866CBA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7434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1716"/>
                </a:solidFill>
              </a:defRPr>
            </a:pPr>
            <a:r>
              <a:rPr sz="1800" b="1">
                <a:solidFill>
                  <a:srgbClr val="121716"/>
                </a:solidFill>
              </a:rPr>
              <a:t>白方选一点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82CBE0-1E51-4022-8C8B-22D2A0E7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105400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A66"/>
                </a:solidFill>
              </a:defRPr>
            </a:pPr>
            <a:r>
              <a:rPr sz="1425" b="0">
                <a:solidFill>
                  <a:srgbClr val="5F6A66"/>
                </a:solidFill>
              </a:rPr>
              <a:t>其余候选撤下，继续对局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22C732-951E-4C08-AAB1-6FCB3CD07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3CA66B-C8B9-454D-971B-198D58C33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A66"/>
                </a:solidFill>
              </a:defRPr>
            </a:pPr>
            <a:r>
              <a:rPr sz="1125" b="0">
                <a:solidFill>
                  <a:srgbClr val="5F6A66"/>
                </a:solidFill>
              </a:rPr>
              <a:t>半步五子棋 · 本地棋谱研究工具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B32BB1-BCCF-416D-9CEB-EF430ADEB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A66"/>
                </a:solidFill>
              </a:defRPr>
            </a:pPr>
            <a:r>
              <a:rPr sz="1125" b="0">
                <a:solidFill>
                  <a:srgbClr val="5F6A66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598114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D3B1F16-CA0A-4905-9F7A-32576785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21716"/>
                </a:solidFill>
              </a:defRPr>
            </a:pPr>
            <a:r>
              <a:rPr sz="3600" b="1">
                <a:solidFill>
                  <a:srgbClr val="121716"/>
                </a:solidFill>
              </a:rPr>
              <a:t>规则说明把“有禁、无禁”与判定边界讲清楚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399F74-4C05-4C3E-9EA7-3FA82A25B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A66"/>
                </a:solidFill>
              </a:defRPr>
            </a:pPr>
            <a:r>
              <a:rPr sz="1725" b="0">
                <a:solidFill>
                  <a:srgbClr val="5F6A66"/>
                </a:solidFill>
              </a:rPr>
              <a:t>不仅告诉你规则名，还解释流程、胜负、禁手优先级与实现边界。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0CD65A-8D5F-46AF-9D1B-4554DFD32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7067550" cy="4229100"/>
          </a:xfrm>
          <a:prstGeom xmlns:a="http://schemas.openxmlformats.org/drawingml/2006/main" prst="roundRect">
            <a:avLst>
              <a:gd name="adj" fmla="val 4054"/>
            </a:avLst>
          </a:prstGeom>
          <a:solidFill xmlns:a="http://schemas.openxmlformats.org/drawingml/2006/main">
            <a:srgbClr val="F4F3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6cb21e3b564ac6"/>
          <a:stretch xmlns:a="http://schemas.openxmlformats.org/drawingml/2006/main"/>
        </p:blipFill>
        <p:spPr>
          <a:xfrm xmlns:a="http://schemas.openxmlformats.org/drawingml/2006/main">
            <a:off x="1019175" y="1885950"/>
            <a:ext cx="6400800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ED876A-59F7-4204-A6A2-70FD935EF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431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读得懂，才下得明白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CE157B-7292-4B41-B127-0C42E9A08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1716"/>
                </a:solidFill>
              </a:defRPr>
            </a:pPr>
            <a:r>
              <a:rPr sz="2025" b="1">
                <a:solidFill>
                  <a:srgbClr val="121716"/>
                </a:solidFill>
              </a:rPr>
              <a:t>规则预设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150794-27B2-4C19-A68F-8183A3C2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57500"/>
            <a:ext cx="314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A66"/>
                </a:solidFill>
              </a:defRPr>
            </a:pPr>
            <a:r>
              <a:rPr sz="1575" b="0">
                <a:solidFill>
                  <a:srgbClr val="5F6A66"/>
                </a:solidFill>
              </a:rPr>
              <a:t>胜负方式与开局流程绑定，选中即可开始。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B7E3A9-35F4-4FC6-A11D-39D6F073B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623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1716"/>
                </a:solidFill>
              </a:defRPr>
            </a:pPr>
            <a:r>
              <a:rPr sz="2025" b="1">
                <a:solidFill>
                  <a:srgbClr val="121716"/>
                </a:solidFill>
              </a:rPr>
              <a:t>禁手判定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FBDE5B-6562-4697-9BC9-A711D77F5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38600"/>
            <a:ext cx="314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A66"/>
                </a:solidFill>
              </a:defRPr>
            </a:pPr>
            <a:r>
              <a:rPr sz="1575" b="0">
                <a:solidFill>
                  <a:srgbClr val="5F6A66"/>
                </a:solidFill>
              </a:rPr>
              <a:t>长连、四四、三三及优先级都有文字说明。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0F80C4-F475-418B-BBF9-6D47A8B5E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434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1716"/>
                </a:solidFill>
              </a:defRPr>
            </a:pPr>
            <a:r>
              <a:rPr sz="2025" b="1">
                <a:solidFill>
                  <a:srgbClr val="121716"/>
                </a:solidFill>
              </a:rPr>
              <a:t>实现边界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EDC073-83C3-4A4C-9741-D7FEC293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219700"/>
            <a:ext cx="314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A66"/>
                </a:solidFill>
              </a:defRPr>
            </a:pPr>
            <a:r>
              <a:rPr sz="1575" b="0">
                <a:solidFill>
                  <a:srgbClr val="5F6A66"/>
                </a:solidFill>
              </a:rPr>
              <a:t>明确实用辅助与正式裁判之间的边界。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34B94C-A313-4B82-9BAF-4AD91502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189449-0E7E-4E42-A2B2-22C4000FA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A66"/>
                </a:solidFill>
              </a:defRPr>
            </a:pPr>
            <a:r>
              <a:rPr sz="1125" b="0">
                <a:solidFill>
                  <a:srgbClr val="5F6A66"/>
                </a:solidFill>
              </a:rPr>
              <a:t>半步五子棋 · 本地棋谱研究工具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CAED48-B0C9-4567-8F7D-30E6075B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A66"/>
                </a:solidFill>
              </a:defRPr>
            </a:pPr>
            <a:r>
              <a:rPr sz="1125" b="0">
                <a:solidFill>
                  <a:srgbClr val="5F6A66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761038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9EAA608-2A0C-4A08-AAD5-E21C96774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21716"/>
                </a:solidFill>
              </a:defRPr>
            </a:pPr>
            <a:r>
              <a:rPr sz="3600" b="1">
                <a:solidFill>
                  <a:srgbClr val="121716"/>
                </a:solidFill>
              </a:rPr>
              <a:t>分析与本机标注：结论留下，原谱不动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4C1C29-EA04-4317-9BB1-224E4AD71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A66"/>
                </a:solidFill>
              </a:defRPr>
            </a:pPr>
            <a:r>
              <a:rPr sz="1725" b="0">
                <a:solidFill>
                  <a:srgbClr val="5F6A66"/>
                </a:solidFill>
              </a:rPr>
              <a:t>候选点服务于研究，不必成为棋谱正文的一部分。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C9A2EA-B877-4D28-A765-D4BC4246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0355DF-BF56-4EAB-82FA-04F26129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114550"/>
            <a:ext cx="417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1716"/>
                </a:solidFill>
              </a:defRPr>
            </a:pPr>
            <a:r>
              <a:rPr sz="2175" b="1">
                <a:solidFill>
                  <a:srgbClr val="121716"/>
                </a:solidFill>
              </a:rPr>
              <a:t>候选标记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B66C72-2C42-4B5A-A663-A45E654FC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590800"/>
            <a:ext cx="4171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A66"/>
                </a:solidFill>
              </a:defRPr>
            </a:pPr>
            <a:r>
              <a:rPr sz="1575" b="0">
                <a:solidFill>
                  <a:srgbClr val="5F6A66"/>
                </a:solidFill>
              </a:rPr>
              <a:t>标注激活后在棋盘记录候选；取消只退出标注状态。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2493F2-AB6B-4690-94E5-B34A7C748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C2254E-70EF-4C68-98B9-92DDD655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145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9CC3E0-DC1C-44E5-A0F1-3AC3F4E31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114550"/>
            <a:ext cx="417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1716"/>
                </a:solidFill>
              </a:defRPr>
            </a:pPr>
            <a:r>
              <a:rPr sz="2175" b="1">
                <a:solidFill>
                  <a:srgbClr val="121716"/>
                </a:solidFill>
              </a:rPr>
              <a:t>A1、A2…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106A37-EBCB-4B34-B3E3-6FAF39FF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590800"/>
            <a:ext cx="4171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A66"/>
                </a:solidFill>
              </a:defRPr>
            </a:pPr>
            <a:r>
              <a:rPr sz="1575" b="0">
                <a:solidFill>
                  <a:srgbClr val="5F6A66"/>
                </a:solidFill>
              </a:rPr>
              <a:t>打点候选以半透明棋子与编号显示，位置更容易辨认。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398653-A7AF-47A2-B558-9EB5EF661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766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1A0D23-FFA3-408D-94E8-6E9540BE9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6CF58C-4780-4112-9101-8782F31CB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95750"/>
            <a:ext cx="417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1716"/>
                </a:solidFill>
              </a:defRPr>
            </a:pPr>
            <a:r>
              <a:rPr sz="2175" b="1">
                <a:solidFill>
                  <a:srgbClr val="121716"/>
                </a:solidFill>
              </a:rPr>
              <a:t>读谱隔离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AA2A94-1688-4E0A-8869-57416BD4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572000"/>
            <a:ext cx="4171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A66"/>
                </a:solidFill>
              </a:defRPr>
            </a:pPr>
            <a:r>
              <a:rPr sz="1575" b="0">
                <a:solidFill>
                  <a:srgbClr val="5F6A66"/>
                </a:solidFill>
              </a:rPr>
              <a:t>读谱中的 reviewMarks 按文档与节点隔离。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9D510F-7AF7-43F4-ABB4-FC510B5B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21F9A1-D1CE-4E22-98A6-C2B9E6108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957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B9D689-2B0E-400A-A4D5-4463E99B5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95750"/>
            <a:ext cx="417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1716"/>
                </a:solidFill>
              </a:defRPr>
            </a:pPr>
            <a:r>
              <a:rPr sz="2175" b="1">
                <a:solidFill>
                  <a:srgbClr val="121716"/>
                </a:solidFill>
              </a:rPr>
              <a:t>原谱保护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C8CD42-86EF-4CAC-BCC8-0888E7C3E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572000"/>
            <a:ext cx="4171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A66"/>
                </a:solidFill>
              </a:defRPr>
            </a:pPr>
            <a:r>
              <a:rPr sz="1575" b="0">
                <a:solidFill>
                  <a:srgbClr val="5F6A66"/>
                </a:solidFill>
              </a:rPr>
              <a:t>标注不写入 recordDraft，也不会把棋谱变脏。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0F3FA5-12B6-43BD-8A1F-21F0D5AAF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6578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6D2E77-CA83-4BAB-B3F6-3C0D0F775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02ED0D-7807-4E7F-8861-0D1A1E4A4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A66"/>
                </a:solidFill>
              </a:defRPr>
            </a:pPr>
            <a:r>
              <a:rPr sz="1125" b="0">
                <a:solidFill>
                  <a:srgbClr val="5F6A66"/>
                </a:solidFill>
              </a:rPr>
              <a:t>半步五子棋 · 本地棋谱研究工具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988D8C-5C83-4C57-8575-25623A718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A66"/>
                </a:solidFill>
              </a:defRPr>
            </a:pPr>
            <a:r>
              <a:rPr sz="1125" b="0">
                <a:solidFill>
                  <a:srgbClr val="5F6A66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9317464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14291FE-CB9F-4B89-9C90-DDCEEB4B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21716"/>
                </a:solidFill>
              </a:defRPr>
            </a:pPr>
            <a:r>
              <a:rPr sz="3600" b="1">
                <a:solidFill>
                  <a:srgbClr val="121716"/>
                </a:solidFill>
              </a:rPr>
              <a:t>导入导出让棋谱在设备与工具间流动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96CE93-22FE-404D-AB3D-C1E29950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A66"/>
                </a:solidFill>
              </a:defRPr>
            </a:pPr>
            <a:r>
              <a:rPr sz="1725" b="0">
                <a:solidFill>
                  <a:srgbClr val="5F6A66"/>
                </a:solidFill>
              </a:rPr>
              <a:t>入口集中、动作明确：导入、导出、保存与恢复不会混在一起。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72E396-6A35-463A-A636-B8851E75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6858000" cy="4191000"/>
          </a:xfrm>
          <a:prstGeom xmlns:a="http://schemas.openxmlformats.org/drawingml/2006/main" prst="roundRect">
            <a:avLst>
              <a:gd name="adj" fmla="val 4091"/>
            </a:avLst>
          </a:prstGeom>
          <a:solidFill xmlns:a="http://schemas.openxmlformats.org/drawingml/2006/main">
            <a:srgbClr val="F4F3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3f9695b0344f42"/>
          <a:stretch xmlns:a="http://schemas.openxmlformats.org/drawingml/2006/main"/>
        </p:blipFill>
        <p:spPr>
          <a:xfrm xmlns:a="http://schemas.openxmlformats.org/drawingml/2006/main">
            <a:off x="944880" y="1905000"/>
            <a:ext cx="6339840" cy="3962400"/>
          </a:xfrm>
          <a:prstGeom xmlns:a="http://schemas.openxmlformats.org/drawingml/2006/main" prst="roundRect">
            <a:avLst>
              <a:gd name="adj" fmla="val 2885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2DD4CF-0E5F-43C2-9E87-67657A6E3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383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文件流转，不打断研究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36AB36-F8B7-4146-8E36-7F25D9BFD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51460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1716"/>
                </a:solidFill>
              </a:defRPr>
            </a:pPr>
            <a:r>
              <a:rPr sz="2100" b="1">
                <a:solidFill>
                  <a:srgbClr val="121716"/>
                </a:solidFill>
              </a:rPr>
              <a:t>导入棋谱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3F08B8-748A-4958-BFBD-D993342B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990850"/>
            <a:ext cx="333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A66"/>
                </a:solidFill>
              </a:defRPr>
            </a:pPr>
            <a:r>
              <a:rPr sz="1575" b="0">
                <a:solidFill>
                  <a:srgbClr val="5F6A66"/>
                </a:solidFill>
              </a:rPr>
              <a:t>把已有资料带入当前研究空间。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672580-C9C8-4A6C-A9DB-4308B825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63855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1716"/>
                </a:solidFill>
              </a:defRPr>
            </a:pPr>
            <a:r>
              <a:rPr sz="2100" b="1">
                <a:solidFill>
                  <a:srgbClr val="121716"/>
                </a:solidFill>
              </a:rPr>
              <a:t>导出分享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F38728-FF39-4E2F-9CF5-FE056BF2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114800"/>
            <a:ext cx="333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A66"/>
                </a:solidFill>
              </a:defRPr>
            </a:pPr>
            <a:r>
              <a:rPr sz="1575" b="0">
                <a:solidFill>
                  <a:srgbClr val="5F6A66"/>
                </a:solidFill>
              </a:rPr>
              <a:t>将整理结果带到其他设备或工具。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6EA05A-6243-4162-9D2D-E186F76A6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76250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1716"/>
                </a:solidFill>
              </a:defRPr>
            </a:pPr>
            <a:r>
              <a:rPr sz="2100" b="1">
                <a:solidFill>
                  <a:srgbClr val="121716"/>
                </a:solidFill>
              </a:rPr>
              <a:t>草稿可恢复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F6716D-4F30-41CE-915D-9EF721865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238750"/>
            <a:ext cx="333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A66"/>
                </a:solidFill>
              </a:defRPr>
            </a:pPr>
            <a:r>
              <a:rPr sz="1575" b="0">
                <a:solidFill>
                  <a:srgbClr val="5F6A66"/>
                </a:solidFill>
              </a:rPr>
              <a:t>未完成的研究有明确保存与恢复路径。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85EF40-2270-433F-85A3-C0FF29F62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5FE63B-8803-4A6B-8946-4F4FE34C2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A66"/>
                </a:solidFill>
              </a:defRPr>
            </a:pPr>
            <a:r>
              <a:rPr sz="1125" b="0">
                <a:solidFill>
                  <a:srgbClr val="5F6A66"/>
                </a:solidFill>
              </a:rPr>
              <a:t>半步五子棋 · 本地棋谱研究工具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E46BDB-B68A-4C92-B524-190F18120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A66"/>
                </a:solidFill>
              </a:defRPr>
            </a:pPr>
            <a:r>
              <a:rPr sz="1125" b="0">
                <a:solidFill>
                  <a:srgbClr val="5F6A66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7187050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F8275DE-47B2-42C5-8888-FA43272A5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21716"/>
                </a:solidFill>
              </a:defRPr>
            </a:pPr>
            <a:r>
              <a:rPr sz="3600" b="1">
                <a:solidFill>
                  <a:srgbClr val="121716"/>
                </a:solidFill>
              </a:rPr>
              <a:t>主题与可读性适配不同环境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5C817D-2879-45FB-907C-1DE8DD1D8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A66"/>
                </a:solidFill>
              </a:defRPr>
            </a:pPr>
            <a:r>
              <a:rPr sz="1725" b="0">
                <a:solidFill>
                  <a:srgbClr val="5F6A66"/>
                </a:solidFill>
              </a:rPr>
              <a:t>界面风格可以变化，但按钮文字、状态与操作层级必须始终清楚。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308F84-B500-440B-9D2D-E9CCE0303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APPEARANCE &amp; ACCESSIBILITY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DDF274-EF46-4F14-8AF5-9A851582E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4191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2F644F"/>
                </a:solidFill>
              </a:defRPr>
            </a:pPr>
            <a:r>
              <a:rPr sz="2475" b="1">
                <a:solidFill>
                  <a:srgbClr val="2F644F"/>
                </a:solidFill>
              </a:rPr>
              <a:t>从明亮环境到深色场景，</a:t>
            </a:r>
          </a:p>
          <a:p xmlns:a="http://schemas.openxmlformats.org/drawingml/2006/main">
            <a:pPr algn="l">
              <a:defRPr sz="2475" b="1">
                <a:solidFill>
                  <a:srgbClr val="2F644F"/>
                </a:solidFill>
              </a:defRPr>
            </a:pPr>
            <a:r>
              <a:rPr sz="2475" b="1">
                <a:solidFill>
                  <a:srgbClr val="2F644F"/>
                </a:solidFill>
              </a:rPr>
              <a:t>都保持清晰、紧凑、好操作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9C3244-B35A-407E-8004-1195603C8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4095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A66"/>
                </a:solidFill>
              </a:defRPr>
            </a:pPr>
            <a:r>
              <a:rPr sz="1650" b="0">
                <a:solidFill>
                  <a:srgbClr val="5F6A66"/>
                </a:solidFill>
              </a:rPr>
              <a:t>设置集中管理主题、显示与辅助选项；移动端仍维持紧凑首屏与足够的触控高度。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DB8A65-D4A2-4E28-A2CF-7CF88E762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EE3F80-D0BA-4626-A5DD-9D87FE061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790700"/>
            <a:ext cx="6286500" cy="4191000"/>
          </a:xfrm>
          <a:prstGeom xmlns:a="http://schemas.openxmlformats.org/drawingml/2006/main" prst="roundRect">
            <a:avLst>
              <a:gd name="adj" fmla="val 4091"/>
            </a:avLst>
          </a:prstGeom>
          <a:solidFill xmlns:a="http://schemas.openxmlformats.org/drawingml/2006/main">
            <a:srgbClr val="F4F3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ace3bbe7354ebc"/>
          <a:stretch xmlns:a="http://schemas.openxmlformats.org/drawingml/2006/main"/>
        </p:blipFill>
        <p:spPr>
          <a:xfrm xmlns:a="http://schemas.openxmlformats.org/drawingml/2006/main">
            <a:off x="5334000" y="1993106"/>
            <a:ext cx="6057900" cy="3786188"/>
          </a:xfrm>
          <a:prstGeom xmlns:a="http://schemas.openxmlformats.org/drawingml/2006/main" prst="roundRect">
            <a:avLst>
              <a:gd name="adj" fmla="val 2885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CF96A2-6F3B-4B33-863B-A47C44489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E5CA02-8F3A-4D11-BAEF-24D408976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A66"/>
                </a:solidFill>
              </a:defRPr>
            </a:pPr>
            <a:r>
              <a:rPr sz="1125" b="0">
                <a:solidFill>
                  <a:srgbClr val="5F6A66"/>
                </a:solidFill>
              </a:rPr>
              <a:t>半步五子棋 · 本地棋谱研究工具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2B330C-C38F-4D23-9E72-FE418119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A66"/>
                </a:solidFill>
              </a:defRPr>
            </a:pPr>
            <a:r>
              <a:rPr sz="1125" b="0">
                <a:solidFill>
                  <a:srgbClr val="5F6A66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3411410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837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2EC083-2B2E-4273-9DBC-C28730FB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LOCAL-FIRST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77B7DD-47F9-4A5E-9AAE-5B645D255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59055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全本地工作流，</a:t>
            </a:r>
          </a:p>
          <a:p xmlns:a="http://schemas.openxmlformats.org/drawingml/2006/main">
            <a:pPr algn="l"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让数据边界看得见。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ABD69E-0427-4549-8FC2-2D6DDC8DF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5048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5E2DC"/>
                </a:solidFill>
              </a:defRPr>
            </a:pPr>
            <a:r>
              <a:rPr sz="1875" b="0">
                <a:solidFill>
                  <a:srgbClr val="D5E2DC"/>
                </a:solidFill>
              </a:rPr>
              <a:t>棋谱、草稿与本机标注各有自己的职责。研究可以深入，原谱仍保持干净。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5349AB-F0B6-4F51-93A6-68BC13679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619250"/>
            <a:ext cx="1333500" cy="2857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214237"/>
          </a:solidFill>
          <a:ln xmlns:a="http://schemas.openxmlformats.org/drawingml/2006/main" w="9525">
            <a:solidFill>
              <a:srgbClr val="49736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AA8F34-F4F3-45BD-9A0E-143B199CA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8288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CBF4"/>
                </a:solidFill>
              </a:defRPr>
            </a:pPr>
            <a:r>
              <a:rPr sz="1200" b="1">
                <a:solidFill>
                  <a:srgbClr val="6DCBF4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575459-017B-4C2E-B6BF-1AE0DCE93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381250"/>
            <a:ext cx="990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棋谱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D31542-54E3-48C6-AEA8-00A175123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333750"/>
            <a:ext cx="990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5E2DC"/>
                </a:solidFill>
              </a:defRPr>
            </a:pPr>
            <a:r>
              <a:rPr sz="1350" b="0">
                <a:solidFill>
                  <a:srgbClr val="D5E2DC"/>
                </a:solidFill>
              </a:rPr>
              <a:t>保存正式记录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0F6466-70F2-45B8-B0E9-00BCB04C1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19250"/>
            <a:ext cx="1333500" cy="2857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254B3D"/>
          </a:solidFill>
          <a:ln xmlns:a="http://schemas.openxmlformats.org/drawingml/2006/main" w="9525">
            <a:solidFill>
              <a:srgbClr val="49736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45C07C-CE31-47E0-9D0D-126D016C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8288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CBF4"/>
                </a:solidFill>
              </a:defRPr>
            </a:pPr>
            <a:r>
              <a:rPr sz="1200" b="1">
                <a:solidFill>
                  <a:srgbClr val="6DCBF4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CDDA4F-5840-42CF-B9FA-C2D81B6A7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81250"/>
            <a:ext cx="990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草稿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672A55-79E6-4AEF-8249-E685B66E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333750"/>
            <a:ext cx="990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5E2DC"/>
                </a:solidFill>
              </a:defRPr>
            </a:pPr>
            <a:r>
              <a:rPr sz="1350" b="0">
                <a:solidFill>
                  <a:srgbClr val="D5E2DC"/>
                </a:solidFill>
              </a:rPr>
              <a:t>承接未完成编辑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D724F1-297B-44AC-AC77-B34F34827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619250"/>
            <a:ext cx="1333500" cy="2857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214237"/>
          </a:solidFill>
          <a:ln xmlns:a="http://schemas.openxmlformats.org/drawingml/2006/main" w="9525">
            <a:solidFill>
              <a:srgbClr val="49736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F33F9D-45C0-4A97-AED0-D8F34A7C9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8288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CBF4"/>
                </a:solidFill>
              </a:defRPr>
            </a:pPr>
            <a:r>
              <a:rPr sz="1200" b="1">
                <a:solidFill>
                  <a:srgbClr val="6DCBF4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2FDE9D-CCE1-4096-A87E-C2F39A408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381250"/>
            <a:ext cx="990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本机标注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DEC07D-8AB3-46CD-A0DA-DA919CB4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333750"/>
            <a:ext cx="990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5E2DC"/>
                </a:solidFill>
              </a:defRPr>
            </a:pPr>
            <a:r>
              <a:rPr sz="1350" b="0">
                <a:solidFill>
                  <a:srgbClr val="D5E2DC"/>
                </a:solidFill>
              </a:rPr>
              <a:t>记录节点级研究结论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D79E97-7F32-49E7-827C-3165784EA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914900"/>
            <a:ext cx="4457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5E2DC"/>
                </a:solidFill>
              </a:defRPr>
            </a:pPr>
            <a:r>
              <a:rPr sz="1500" b="0">
                <a:solidFill>
                  <a:srgbClr val="D5E2DC"/>
                </a:solidFill>
              </a:rPr>
              <a:t>无需把研究过程上传到远端，数据安全提示也直接出现在棋谱库中。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FF0D26-34AA-4164-9AE4-5181DB68C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33333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7F7175-5DE8-4C65-909A-832FEE243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5E2DC"/>
                </a:solidFill>
              </a:defRPr>
            </a:pPr>
            <a:r>
              <a:rPr sz="1125" b="0">
                <a:solidFill>
                  <a:srgbClr val="D5E2DC"/>
                </a:solidFill>
              </a:rPr>
              <a:t>半步五子棋 · 本地棋谱研究工具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ADA022-5D63-4F2D-B743-D150E4A34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D5E2DC"/>
                </a:solidFill>
              </a:defRPr>
            </a:pPr>
            <a:r>
              <a:rPr sz="1125" b="0">
                <a:solidFill>
                  <a:srgbClr val="D5E2DC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62653754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4A420AE-FC28-462B-A313-58F5A1349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21716"/>
                </a:solidFill>
              </a:defRPr>
            </a:pPr>
            <a:r>
              <a:rPr sz="3600" b="1">
                <a:solidFill>
                  <a:srgbClr val="121716"/>
                </a:solidFill>
              </a:rPr>
              <a:t>它适合想把棋下明白的人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3B89D9-D87E-4140-A210-26EC67794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A66"/>
                </a:solidFill>
              </a:defRPr>
            </a:pPr>
            <a:r>
              <a:rPr sz="1725" b="0">
                <a:solidFill>
                  <a:srgbClr val="5F6A66"/>
                </a:solidFill>
              </a:rPr>
              <a:t>无论你是自己训练、带学生，还是整理资料，都能从同一套工作流开始。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7B03AA-EF94-4918-AEA2-3D84EE02A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F644F"/>
                </a:solidFill>
              </a:defRPr>
            </a:pPr>
            <a:r>
              <a:rPr sz="2400" b="1">
                <a:solidFill>
                  <a:srgbClr val="2F644F"/>
                </a:solidFill>
              </a:rPr>
              <a:t>棋手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CFAE01-B5FF-48D6-BFF4-EDD1D5E37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3238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A66"/>
                </a:solidFill>
              </a:defRPr>
            </a:pPr>
            <a:r>
              <a:rPr sz="1725" b="0">
                <a:solidFill>
                  <a:srgbClr val="5F6A66"/>
                </a:solidFill>
              </a:rPr>
              <a:t>复盘实战、整理定式、对比候选，在 AI 规则局中检验理解。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63D5ED-B22A-45E3-A38C-3C43AFFA5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F644F"/>
                </a:solidFill>
              </a:defRPr>
            </a:pPr>
            <a:r>
              <a:rPr sz="2400" b="1">
                <a:solidFill>
                  <a:srgbClr val="2F644F"/>
                </a:solidFill>
              </a:rPr>
              <a:t>教练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204209-98D8-4832-AC30-08616378D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323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A66"/>
                </a:solidFill>
              </a:defRPr>
            </a:pPr>
            <a:r>
              <a:rPr sz="1725" b="0">
                <a:solidFill>
                  <a:srgbClr val="5F6A66"/>
                </a:solidFill>
              </a:rPr>
              <a:t>用分支树组织讲解，用做题把“知道”变成“会下”。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2C7A7E-AE49-4815-8FAB-F99629F6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1907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43C0FC-ACE1-417D-873F-55CEE37B7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7170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1716"/>
                </a:solidFill>
              </a:defRPr>
            </a:pPr>
            <a:r>
              <a:rPr sz="2250" b="1">
                <a:solidFill>
                  <a:srgbClr val="121716"/>
                </a:solidFill>
              </a:rPr>
              <a:t>建立棋谱库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90861C-39B1-40FB-A322-98497C514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781300"/>
            <a:ext cx="628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A79816-BD2A-4A51-9D64-4EC0B035F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1051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CF44F4-F16F-4E95-AFAB-E3737A4B0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8610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1716"/>
                </a:solidFill>
              </a:defRPr>
            </a:pPr>
            <a:r>
              <a:rPr sz="2250" b="1">
                <a:solidFill>
                  <a:srgbClr val="121716"/>
                </a:solidFill>
              </a:rPr>
              <a:t>标注关键节点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26DE58-2B38-421F-8149-AFB8A1D4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695700"/>
            <a:ext cx="628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3B5263-4EF2-429A-8ED8-0ECC27A6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0195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8FC0B4-AD91-45EB-BDA3-EC073ACB0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0050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1716"/>
                </a:solidFill>
              </a:defRPr>
            </a:pPr>
            <a:r>
              <a:rPr sz="2250" b="1">
                <a:solidFill>
                  <a:srgbClr val="121716"/>
                </a:solidFill>
              </a:rPr>
              <a:t>导入已有资料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F2BF93-7F97-4321-BC7E-8B4BB96CE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610100"/>
            <a:ext cx="628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63B2F5-CAC9-4204-91E6-9D0E15D18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9339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596058-8501-45BD-88EA-711A365D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91490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1716"/>
                </a:solidFill>
              </a:defRPr>
            </a:pPr>
            <a:r>
              <a:rPr sz="2250" b="1">
                <a:solidFill>
                  <a:srgbClr val="121716"/>
                </a:solidFill>
              </a:rPr>
              <a:t>导出整理成果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FD5148-1DE6-4EEC-A38C-078A2B68A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24500"/>
            <a:ext cx="628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37F069-123A-421E-A313-856EC3D1D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4316B2-5A87-4CE1-BEB3-5CB82B1B7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A66"/>
                </a:solidFill>
              </a:defRPr>
            </a:pPr>
            <a:r>
              <a:rPr sz="1125" b="0">
                <a:solidFill>
                  <a:srgbClr val="5F6A66"/>
                </a:solidFill>
              </a:rPr>
              <a:t>半步五子棋 · 本地棋谱研究工具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61FFEC-FA9B-4D97-AF15-B4B6DCB04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A66"/>
                </a:solidFill>
              </a:defRPr>
            </a:pPr>
            <a:r>
              <a:rPr sz="1125" b="0">
                <a:solidFill>
                  <a:srgbClr val="5F6A66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74543516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90B55F-5504-4184-9C2B-AC02C4E75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半步五子棋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4EC83B-8836-4C7E-9B72-39E244945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8582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21716"/>
                </a:solidFill>
              </a:defRPr>
            </a:pPr>
            <a:r>
              <a:rPr sz="4800" b="1">
                <a:solidFill>
                  <a:srgbClr val="121716"/>
                </a:solidFill>
              </a:rPr>
              <a:t>下一盘棋，</a:t>
            </a:r>
          </a:p>
          <a:p xmlns:a="http://schemas.openxmlformats.org/drawingml/2006/main">
            <a:pPr algn="l">
              <a:defRPr sz="4800" b="1">
                <a:solidFill>
                  <a:srgbClr val="121716"/>
                </a:solidFill>
              </a:defRPr>
            </a:pPr>
            <a:r>
              <a:rPr sz="4800" b="1">
                <a:solidFill>
                  <a:srgbClr val="121716"/>
                </a:solidFill>
              </a:rPr>
              <a:t>不只下完；还要留下。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F388C4-F840-444F-A18C-864A7EF39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7239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F644F"/>
                </a:solidFill>
              </a:defRPr>
            </a:pPr>
            <a:r>
              <a:rPr sz="2175" b="0">
                <a:solidFill>
                  <a:srgbClr val="2F644F"/>
                </a:solidFill>
              </a:rPr>
              <a:t>留下走法，留下变化，留下判断。</a:t>
            </a:r>
          </a:p>
          <a:p xmlns:a="http://schemas.openxmlformats.org/drawingml/2006/main">
            <a:pPr algn="l">
              <a:defRPr sz="2175" b="0">
                <a:solidFill>
                  <a:srgbClr val="2F644F"/>
                </a:solidFill>
              </a:defRPr>
            </a:pPr>
            <a:r>
              <a:rPr sz="2175" b="0">
                <a:solidFill>
                  <a:srgbClr val="2F644F"/>
                </a:solidFill>
              </a:rPr>
              <a:t>从一块本地棋盘，开始自己的长期棋谱研究。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950B35-352C-4152-896C-B8409AC06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4381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6FD26F-A3C8-42B6-BE39-B3C63D86E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F6A66"/>
                </a:solidFill>
              </a:defRPr>
            </a:pPr>
            <a:r>
              <a:rPr sz="1575" b="1">
                <a:solidFill>
                  <a:srgbClr val="5F6A66"/>
                </a:solidFill>
              </a:rPr>
              <a:t>打谱 · 读谱 · 做题 · AI 对战 · 棋谱库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06ECFE-A75C-4C11-868D-A5F0EDEF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352550"/>
            <a:ext cx="819150" cy="819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17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31215F-0EED-4C2F-9BA2-715C5D2A8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266950"/>
            <a:ext cx="66675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2171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358FF5-3D2F-4556-BE26-EBFB04D5F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162300"/>
            <a:ext cx="70485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17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A78D01-1354-48AC-8147-FD413C37D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1719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2171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F19D14-3541-4A8F-83A7-3511B9A5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9066A0-B63C-44CE-8812-C6755BFB0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A66"/>
                </a:solidFill>
              </a:defRPr>
            </a:pPr>
            <a:r>
              <a:rPr sz="1125" b="0">
                <a:solidFill>
                  <a:srgbClr val="5F6A66"/>
                </a:solidFill>
              </a:rPr>
              <a:t>半步五子棋 · 本地棋谱研究工具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496527-CE90-4315-86FA-52E71689F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A66"/>
                </a:solidFill>
              </a:defRPr>
            </a:pPr>
            <a:r>
              <a:rPr sz="1125" b="0">
                <a:solidFill>
                  <a:srgbClr val="5F6A66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9510235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2026-09-01T10:48:19.9920000Z</dcterms:created>
  <dcterms:modified xsi:type="dcterms:W3CDTF">2026-09-01T10:48:19.9920000Z</dcterms:modified>
</coreProperties>
</file>